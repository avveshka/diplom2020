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9" r:id="rId4"/>
    <p:sldId id="258" r:id="rId5"/>
    <p:sldId id="270" r:id="rId6"/>
    <p:sldId id="259" r:id="rId7"/>
    <p:sldId id="260" r:id="rId8"/>
    <p:sldId id="271" r:id="rId9"/>
    <p:sldId id="261" r:id="rId10"/>
    <p:sldId id="263" r:id="rId11"/>
    <p:sldId id="264" r:id="rId12"/>
    <p:sldId id="265" r:id="rId13"/>
    <p:sldId id="266" r:id="rId14"/>
    <p:sldId id="262" r:id="rId15"/>
    <p:sldId id="267" r:id="rId16"/>
    <p:sldId id="268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4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53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302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50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01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15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53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04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96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68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3965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837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2958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05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720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9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29FB3-D04B-4DC9-9A1F-3B3A8AB02B31}" type="datetimeFigureOut">
              <a:rPr lang="ru-RU" smtClean="0"/>
              <a:t>21.06.2020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D8F57E1-493C-4DC0-8584-CE31CAE7BB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49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350103"/>
            <a:ext cx="7766936" cy="1907556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ru-RU" sz="3200" b="1" dirty="0" smtClean="0">
                <a:solidFill>
                  <a:schemeClr val="tx1"/>
                </a:solidFill>
              </a:rPr>
              <a:t>Дипломная работа на тему</a:t>
            </a:r>
            <a:r>
              <a:rPr lang="en-US" sz="3200" b="1" dirty="0" smtClean="0">
                <a:solidFill>
                  <a:schemeClr val="tx1"/>
                </a:solidFill>
              </a:rPr>
              <a:t>: </a:t>
            </a:r>
            <a:r>
              <a:rPr lang="ru-RU" sz="3200" b="1" dirty="0" smtClean="0">
                <a:solidFill>
                  <a:schemeClr val="tx1"/>
                </a:solidFill>
              </a:rPr>
              <a:t>«Разработка информационной системы для автоматизации проектирования сетевых развязок»</a:t>
            </a:r>
            <a:endParaRPr lang="ru-RU" sz="3200" b="1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82748" y="4286994"/>
            <a:ext cx="3191255" cy="2143274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Выполнил</a:t>
            </a:r>
            <a:r>
              <a:rPr lang="en-US" dirty="0" smtClean="0">
                <a:solidFill>
                  <a:schemeClr val="tx1"/>
                </a:solidFill>
              </a:rPr>
              <a:t>: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Студент группы 646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Андросов А.В.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Научный руководитель</a:t>
            </a:r>
            <a:r>
              <a:rPr lang="en-US" dirty="0" smtClean="0">
                <a:solidFill>
                  <a:schemeClr val="tx1"/>
                </a:solidFill>
              </a:rPr>
              <a:t>: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к.т.н., доцент Бакулев А.В.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75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25434"/>
          </a:xfrm>
        </p:spPr>
        <p:txBody>
          <a:bodyPr>
            <a:normAutofit fontScale="90000"/>
          </a:bodyPr>
          <a:lstStyle/>
          <a:p>
            <a:r>
              <a:rPr lang="ru-RU" u="sng" dirty="0" smtClean="0">
                <a:solidFill>
                  <a:schemeClr val="tx1"/>
                </a:solidFill>
              </a:rPr>
              <a:t>Введение														</a:t>
            </a:r>
            <a:endParaRPr lang="ru-RU" u="sng" dirty="0">
              <a:solidFill>
                <a:schemeClr val="tx1"/>
              </a:solidFill>
            </a:endParaRPr>
          </a:p>
        </p:txBody>
      </p:sp>
      <p:pic>
        <p:nvPicPr>
          <p:cNvPr id="1026" name="Picture 2" descr="Транспортная развязка — Википедия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59" y="683387"/>
            <a:ext cx="7353528" cy="489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250334" y="563890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u="sng" dirty="0"/>
              <a:t>Цель ВКР</a:t>
            </a:r>
            <a:r>
              <a:rPr lang="en-US" u="sng" dirty="0"/>
              <a:t>:</a:t>
            </a:r>
          </a:p>
          <a:p>
            <a:r>
              <a:rPr lang="ru-RU" dirty="0"/>
              <a:t>Разработка программного модуля для проверки планарности и получения планарного графа.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78458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25434"/>
          </a:xfrm>
        </p:spPr>
        <p:txBody>
          <a:bodyPr>
            <a:normAutofit fontScale="90000"/>
          </a:bodyPr>
          <a:lstStyle/>
          <a:p>
            <a:r>
              <a:rPr lang="ru-RU" u="sng" dirty="0" smtClean="0">
                <a:solidFill>
                  <a:schemeClr val="tx1"/>
                </a:solidFill>
              </a:rPr>
              <a:t>Введение														</a:t>
            </a:r>
            <a:endParaRPr lang="ru-RU" u="sng" dirty="0">
              <a:solidFill>
                <a:schemeClr val="tx1"/>
              </a:solidFill>
            </a:endParaRPr>
          </a:p>
        </p:txBody>
      </p:sp>
      <p:pic>
        <p:nvPicPr>
          <p:cNvPr id="4" name="Picture 2" descr="https://sun1-96.userapi.com/p1yOe3dAYzsQ_umcld14aY7oTz3HMXSOf-OQ8w/E5fqgqER7b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41" y="2184845"/>
            <a:ext cx="6230873" cy="467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Транспортная развязка — Википедия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362" y="560432"/>
            <a:ext cx="3890272" cy="259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00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02365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Задачи												</a:t>
            </a:r>
            <a:endParaRPr lang="ru-RU" u="sng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4209" y="1468826"/>
            <a:ext cx="8596668" cy="4216357"/>
          </a:xfrm>
        </p:spPr>
        <p:txBody>
          <a:bodyPr/>
          <a:lstStyle/>
          <a:p>
            <a:r>
              <a:rPr lang="ru-RU" u="sng" dirty="0" smtClean="0"/>
              <a:t>Задачи ВКР</a:t>
            </a:r>
            <a:r>
              <a:rPr lang="en-US" u="sng" dirty="0" smtClean="0"/>
              <a:t>:</a:t>
            </a:r>
          </a:p>
          <a:p>
            <a:pPr>
              <a:buFontTx/>
              <a:buChar char="-"/>
            </a:pPr>
            <a:r>
              <a:rPr lang="ru-RU" dirty="0" smtClean="0"/>
              <a:t>Изучить тему планарности графов и выбрать лучший алгоритм</a:t>
            </a:r>
          </a:p>
          <a:p>
            <a:pPr>
              <a:buFontTx/>
              <a:buChar char="-"/>
            </a:pPr>
            <a:r>
              <a:rPr lang="ru-RU" dirty="0" smtClean="0"/>
              <a:t>Рассмотреть существующие решения</a:t>
            </a:r>
          </a:p>
          <a:p>
            <a:pPr>
              <a:buFontTx/>
              <a:buChar char="-"/>
            </a:pPr>
            <a:r>
              <a:rPr lang="ru-RU" dirty="0" smtClean="0"/>
              <a:t>Исследовать математическую модель проверки планарности графа и его получения</a:t>
            </a:r>
          </a:p>
          <a:p>
            <a:pPr>
              <a:buFontTx/>
              <a:buChar char="-"/>
            </a:pPr>
            <a:r>
              <a:rPr lang="ru-RU" dirty="0" smtClean="0"/>
              <a:t>Определить этапы работы алгоритма</a:t>
            </a:r>
          </a:p>
          <a:p>
            <a:pPr>
              <a:buFontTx/>
              <a:buChar char="-"/>
            </a:pPr>
            <a:r>
              <a:rPr lang="ru-RU" dirty="0" smtClean="0"/>
              <a:t>Разработать программный модуль</a:t>
            </a:r>
          </a:p>
          <a:p>
            <a:pPr>
              <a:buFontTx/>
              <a:buChar char="-"/>
            </a:pPr>
            <a:r>
              <a:rPr lang="ru-RU" dirty="0" smtClean="0"/>
              <a:t>Сравнить результаты работы программы и аналитическое решение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u="sng" dirty="0" smtClean="0"/>
          </a:p>
          <a:p>
            <a:pPr marL="0" indent="0">
              <a:buNone/>
            </a:pPr>
            <a:endParaRPr lang="ru-RU" dirty="0"/>
          </a:p>
          <a:p>
            <a:endParaRPr lang="ru-RU" u="sng" dirty="0"/>
          </a:p>
        </p:txBody>
      </p:sp>
    </p:spTree>
    <p:extLst>
      <p:ext uri="{BB962C8B-B14F-4D97-AF65-F5344CB8AC3E}">
        <p14:creationId xmlns:p14="http://schemas.microsoft.com/office/powerpoint/2010/main" val="249320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625995" cy="1320800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Область применения поставленной задачи</a:t>
            </a:r>
            <a:endParaRPr lang="ru-RU" u="sng" dirty="0">
              <a:solidFill>
                <a:schemeClr val="tx1"/>
              </a:solidFill>
            </a:endParaRPr>
          </a:p>
        </p:txBody>
      </p:sp>
      <p:pic>
        <p:nvPicPr>
          <p:cNvPr id="1026" name="Picture 2" descr="Визуализация структурной информации на основе графовых моделе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7" y="592818"/>
            <a:ext cx="48768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М.Ю. МОНАХОВ М.М. МОНАХОВА Д.В. МИШИН ГРАФОВАЯ МОДЕЛЬ СЕТИ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600" y="742951"/>
            <a:ext cx="4255361" cy="304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600" y="3903892"/>
            <a:ext cx="3553422" cy="261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9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02365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Анализ готовых решения</a:t>
            </a:r>
            <a:r>
              <a:rPr lang="ru-RU" u="sng" dirty="0">
                <a:solidFill>
                  <a:schemeClr val="tx1"/>
                </a:solidFill>
              </a:rPr>
              <a:t>							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195578"/>
              </p:ext>
            </p:extLst>
          </p:nvPr>
        </p:nvGraphicFramePr>
        <p:xfrm>
          <a:off x="622204" y="1863255"/>
          <a:ext cx="8596312" cy="3083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754709264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459278841"/>
                    </a:ext>
                  </a:extLst>
                </a:gridCol>
              </a:tblGrid>
              <a:tr h="28528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MXROAD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KICAD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597442"/>
                  </a:ext>
                </a:extLst>
              </a:tr>
              <a:tr h="2717662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Достоинства</a:t>
                      </a:r>
                      <a:r>
                        <a:rPr lang="en-US" sz="1400" dirty="0" smtClean="0"/>
                        <a:t>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Простота использования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Качество поддержки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Спектр возможностей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Пригодность для корпоративного использования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400" baseline="0" dirty="0" smtClean="0"/>
                        <a:t>Недостатки</a:t>
                      </a:r>
                      <a:r>
                        <a:rPr lang="en-US" sz="1400" baseline="0" dirty="0" smtClean="0"/>
                        <a:t>:</a:t>
                      </a:r>
                      <a:endParaRPr lang="ru-RU" sz="1400" baseline="0" dirty="0" smtClean="0"/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ru-RU" sz="1400" baseline="0" dirty="0" smtClean="0"/>
                        <a:t>Не решает поставленной нами проблемы</a:t>
                      </a:r>
                      <a:endParaRPr lang="en-US" sz="1400" baseline="0" dirty="0" smtClean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Нет узкой направленности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Большая цена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Непригодность для одноразового использования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Достоинства</a:t>
                      </a:r>
                      <a:r>
                        <a:rPr lang="en-US" sz="1400" dirty="0" smtClean="0"/>
                        <a:t>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Множество возможностей</a:t>
                      </a:r>
                      <a:endParaRPr lang="en-US" sz="1400" baseline="0" dirty="0" smtClean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Бесплатно распространяется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Использование возможно в любых масштабах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ru-RU" sz="1400" baseline="0" dirty="0" smtClean="0"/>
                        <a:t>Недостатки</a:t>
                      </a:r>
                      <a:r>
                        <a:rPr lang="en-US" sz="1400" baseline="0" dirty="0" smtClean="0"/>
                        <a:t>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Не решает поставленной нами проблемы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sz="1400" baseline="0" dirty="0" smtClean="0"/>
                        <a:t>Сложный интерфейс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488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85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94414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Математическая модель	</a:t>
            </a:r>
            <a:r>
              <a:rPr lang="ru-RU" u="sng" dirty="0">
                <a:solidFill>
                  <a:schemeClr val="tx1"/>
                </a:solidFill>
              </a:rPr>
              <a:t>						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590" y="1295092"/>
            <a:ext cx="4057650" cy="1895475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4640240" y="1328429"/>
            <a:ext cx="4524375" cy="18288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4311627" y="3409747"/>
            <a:ext cx="5181600" cy="24288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40" y="3824582"/>
            <a:ext cx="43434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397093" cy="1320800"/>
          </a:xfrm>
        </p:spPr>
        <p:txBody>
          <a:bodyPr>
            <a:normAutofit fontScale="90000"/>
          </a:bodyPr>
          <a:lstStyle/>
          <a:p>
            <a:r>
              <a:rPr lang="ru-RU" u="sng" dirty="0" smtClean="0">
                <a:solidFill>
                  <a:schemeClr val="tx1"/>
                </a:solidFill>
              </a:rPr>
              <a:t>Обобщённый алгоритм оптимизации сетевой развязки по критерию минимального покрытия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43592" y="1573893"/>
            <a:ext cx="816156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Шаг 1.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Генерируется матрица смежности дорожной сети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50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Шаг 2.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Поиск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подграфов, гомеоморфных запрещенным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фигурам</a:t>
            </a:r>
          </a:p>
          <a:p>
            <a:pPr indent="449580" algn="just">
              <a:lnSpc>
                <a:spcPct val="150000"/>
              </a:lnSpc>
              <a:spcAft>
                <a:spcPts val="0"/>
              </a:spcAft>
            </a:pPr>
            <a:r>
              <a:rPr lang="ru-RU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Шаг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оставление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таблицы минимального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покрытия рёбер исходного графа подграфами пункта 2.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50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Шаг 4.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Построение минимального покрытия.</a:t>
            </a:r>
            <a:endParaRPr lang="ru-RU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50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Шаг 5.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Вывод 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результатов.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1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86463"/>
          </a:xfrm>
        </p:spPr>
        <p:txBody>
          <a:bodyPr>
            <a:normAutofit fontScale="90000"/>
          </a:bodyPr>
          <a:lstStyle/>
          <a:p>
            <a:r>
              <a:rPr lang="ru-RU" u="sng" dirty="0" smtClean="0">
                <a:solidFill>
                  <a:schemeClr val="tx1"/>
                </a:solidFill>
              </a:rPr>
              <a:t>Общая блок-схема алгоритма</a:t>
            </a:r>
            <a:r>
              <a:rPr lang="ru-RU" u="sng" dirty="0">
                <a:solidFill>
                  <a:schemeClr val="tx1"/>
                </a:solidFill>
              </a:rPr>
              <a:t>						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908" y="686463"/>
            <a:ext cx="2336852" cy="611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9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70560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Этапы выполнения алгоритма</a:t>
            </a:r>
            <a:r>
              <a:rPr lang="ru-RU" u="sng" dirty="0">
                <a:solidFill>
                  <a:schemeClr val="tx1"/>
                </a:solidFill>
              </a:rPr>
              <a:t>					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6031702"/>
              </p:ext>
            </p:extLst>
          </p:nvPr>
        </p:nvGraphicFramePr>
        <p:xfrm>
          <a:off x="590398" y="670559"/>
          <a:ext cx="8596312" cy="574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71034518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339886893"/>
                    </a:ext>
                  </a:extLst>
                </a:gridCol>
              </a:tblGrid>
              <a:tr h="48238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ru-RU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Алгоритм генерации подграфов, гомеоморфных запрещенным фигурам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Алгоритм</a:t>
                      </a:r>
                      <a:r>
                        <a:rPr lang="ru-RU" sz="1400" baseline="0" dirty="0" smtClean="0"/>
                        <a:t> получения планарного графа из не планарного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286919"/>
                  </a:ext>
                </a:extLst>
              </a:tr>
              <a:tr h="52221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700988"/>
                  </a:ext>
                </a:extLst>
              </a:tr>
            </a:tbl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22" y="1256902"/>
            <a:ext cx="2661675" cy="51539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352" y="1267852"/>
            <a:ext cx="2595101" cy="513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7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54657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Пример работы программного модуля</a:t>
            </a:r>
            <a:r>
              <a:rPr lang="ru-RU" u="sng" dirty="0">
                <a:solidFill>
                  <a:schemeClr val="tx1"/>
                </a:solidFill>
              </a:rPr>
              <a:t>	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3192" y="3124075"/>
            <a:ext cx="3942080" cy="1838325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6656923" y="940032"/>
            <a:ext cx="2927950" cy="144623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4184512" y="2671638"/>
            <a:ext cx="5858510" cy="68580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5"/>
          <a:stretch>
            <a:fillRect/>
          </a:stretch>
        </p:blipFill>
        <p:spPr>
          <a:xfrm>
            <a:off x="4203562" y="3357438"/>
            <a:ext cx="5839460" cy="68580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6"/>
          <a:stretch>
            <a:fillRect/>
          </a:stretch>
        </p:blipFill>
        <p:spPr>
          <a:xfrm>
            <a:off x="6656923" y="4548864"/>
            <a:ext cx="3034086" cy="1498126"/>
          </a:xfrm>
          <a:prstGeom prst="rect">
            <a:avLst/>
          </a:prstGeom>
        </p:spPr>
      </p:pic>
      <p:pic>
        <p:nvPicPr>
          <p:cNvPr id="1026" name="Picture 2" descr="планарнеплоск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654657"/>
            <a:ext cx="2426607" cy="240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плоский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334" y="718849"/>
            <a:ext cx="1818876" cy="181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планарный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562" y="4234983"/>
            <a:ext cx="1912568" cy="212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699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94414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Экспериментальная часть					</a:t>
            </a:r>
            <a:r>
              <a:rPr lang="ru-RU" u="sng" dirty="0">
                <a:solidFill>
                  <a:schemeClr val="tx1"/>
                </a:solidFill>
              </a:rPr>
              <a:t>	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6908" y="595993"/>
            <a:ext cx="2820399" cy="4244211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3432082" y="694414"/>
            <a:ext cx="4764861" cy="4156647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1226521" y="4918710"/>
            <a:ext cx="6143625" cy="193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7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70560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Вывод по результатам внедрения</a:t>
            </a:r>
            <a:r>
              <a:rPr lang="ru-RU" u="sng" dirty="0">
                <a:solidFill>
                  <a:schemeClr val="tx1"/>
                </a:solidFill>
              </a:rPr>
              <a:t>			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257406"/>
              </p:ext>
            </p:extLst>
          </p:nvPr>
        </p:nvGraphicFramePr>
        <p:xfrm>
          <a:off x="705345" y="1611946"/>
          <a:ext cx="7185978" cy="2744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989">
                  <a:extLst>
                    <a:ext uri="{9D8B030D-6E8A-4147-A177-3AD203B41FA5}">
                      <a16:colId xmlns:a16="http://schemas.microsoft.com/office/drawing/2014/main" val="486218678"/>
                    </a:ext>
                  </a:extLst>
                </a:gridCol>
                <a:gridCol w="3592989">
                  <a:extLst>
                    <a:ext uri="{9D8B030D-6E8A-4147-A177-3AD203B41FA5}">
                      <a16:colId xmlns:a16="http://schemas.microsoft.com/office/drawing/2014/main" val="861530517"/>
                    </a:ext>
                  </a:extLst>
                </a:gridCol>
              </a:tblGrid>
              <a:tr h="342799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Достоинства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Недостатки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42923"/>
                  </a:ext>
                </a:extLst>
              </a:tr>
              <a:tr h="2378716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 smtClean="0"/>
                        <a:t>Масштабируемость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 smtClean="0"/>
                        <a:t>Возможность трансляции</a:t>
                      </a:r>
                      <a:r>
                        <a:rPr lang="ru-RU" baseline="0" dirty="0" smtClean="0"/>
                        <a:t> в другие предметные области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baseline="0" dirty="0" smtClean="0"/>
                        <a:t>Малое время работы алгоритма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baseline="0" dirty="0" smtClean="0"/>
                        <a:t>Возможность внедрения во множество различных систем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 smtClean="0"/>
                        <a:t>Отсутствие собственного графического интерфейса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ru-RU" dirty="0" smtClean="0"/>
                        <a:t>Необходимы некоторые аналитические расчёты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266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71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70560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Области применения				</a:t>
            </a:r>
            <a:r>
              <a:rPr lang="ru-RU" u="sng" dirty="0">
                <a:solidFill>
                  <a:schemeClr val="tx1"/>
                </a:solidFill>
              </a:rPr>
              <a:t>					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Планирование маршрутов</a:t>
            </a:r>
          </a:p>
          <a:p>
            <a:r>
              <a:rPr lang="ru-RU" dirty="0" smtClean="0"/>
              <a:t>Трассировка печатных плат</a:t>
            </a:r>
          </a:p>
          <a:p>
            <a:r>
              <a:rPr lang="ru-RU" dirty="0" smtClean="0"/>
              <a:t>Проектирование дорожных сетей</a:t>
            </a:r>
          </a:p>
          <a:p>
            <a:r>
              <a:rPr lang="ru-RU" dirty="0" smtClean="0"/>
              <a:t>Проектирование коммуникационных сетей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502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94414"/>
          </a:xfrm>
        </p:spPr>
        <p:txBody>
          <a:bodyPr/>
          <a:lstStyle/>
          <a:p>
            <a:r>
              <a:rPr lang="ru-RU" u="sng" dirty="0" smtClean="0">
                <a:solidFill>
                  <a:schemeClr val="tx1"/>
                </a:solidFill>
              </a:rPr>
              <a:t>Заключение										</a:t>
            </a:r>
            <a:r>
              <a:rPr lang="ru-RU" u="sng" dirty="0">
                <a:solidFill>
                  <a:schemeClr val="tx1"/>
                </a:solidFill>
              </a:rPr>
              <a:t>			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3136" y="1500631"/>
            <a:ext cx="8596668" cy="327810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Разработанная программа позволяет максимально уменьшить количество слоёв развязки без привлечения человеческих и временных ресурсов. Это может значительно ускорить разработку более дешёвых развязок.</a:t>
            </a:r>
          </a:p>
          <a:p>
            <a:pPr marL="0" indent="0">
              <a:buNone/>
            </a:pPr>
            <a:r>
              <a:rPr lang="ru-RU" dirty="0" smtClean="0"/>
              <a:t>Система открыта для доработок, таких как добавление графического интерфейса. </a:t>
            </a:r>
          </a:p>
          <a:p>
            <a:pPr marL="0" indent="0">
              <a:buNone/>
            </a:pPr>
            <a:r>
              <a:rPr lang="ru-RU"/>
              <a:t>Разработанная </a:t>
            </a:r>
            <a:r>
              <a:rPr lang="ru-RU" smtClean="0"/>
              <a:t>информационная </a:t>
            </a:r>
            <a:r>
              <a:rPr lang="ru-RU" dirty="0"/>
              <a:t>система соответствует всем требованиям и набору функционала поставленным на этапе постановки задачи.  </a:t>
            </a:r>
          </a:p>
          <a:p>
            <a:pPr marL="0" indent="0">
              <a:buNone/>
            </a:pPr>
            <a:r>
              <a:rPr lang="ru-RU" dirty="0"/>
              <a:t>Задачи, которые были поставлены в рамках проведенной работы, полностью выполнены. Цель </a:t>
            </a:r>
            <a:r>
              <a:rPr lang="ru-RU" dirty="0" smtClean="0"/>
              <a:t>достигнута.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948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8652" y="2676939"/>
            <a:ext cx="8596668" cy="829586"/>
          </a:xfrm>
        </p:spPr>
        <p:txBody>
          <a:bodyPr>
            <a:noAutofit/>
          </a:bodyPr>
          <a:lstStyle/>
          <a:p>
            <a:pPr algn="ctr"/>
            <a:r>
              <a:rPr lang="ru-RU" sz="4400" u="sng" dirty="0" smtClean="0">
                <a:solidFill>
                  <a:schemeClr val="tx1"/>
                </a:solidFill>
              </a:rPr>
              <a:t>				Спасибо за внимание!		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15017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948</TotalTime>
  <Words>323</Words>
  <Application>Microsoft Office PowerPoint</Application>
  <PresentationFormat>Широкоэкранный</PresentationFormat>
  <Paragraphs>73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 3</vt:lpstr>
      <vt:lpstr>Аспект</vt:lpstr>
      <vt:lpstr>Дипломная работа на тему: «Разработка информационной системы для автоматизации проектирования сетевых развязок»</vt:lpstr>
      <vt:lpstr>Введение              </vt:lpstr>
      <vt:lpstr>Введение              </vt:lpstr>
      <vt:lpstr>Задачи            </vt:lpstr>
      <vt:lpstr>Область применения поставленной задачи</vt:lpstr>
      <vt:lpstr>Анализ готовых решения       </vt:lpstr>
      <vt:lpstr>Математическая модель       </vt:lpstr>
      <vt:lpstr>Обобщённый алгоритм оптимизации сетевой развязки по критерию минимального покрытия </vt:lpstr>
      <vt:lpstr>Общая блок-схема алгоритма      </vt:lpstr>
      <vt:lpstr>Этапы выполнения алгоритма     </vt:lpstr>
      <vt:lpstr>Пример работы программного модуля </vt:lpstr>
      <vt:lpstr>Экспериментальная часть      </vt:lpstr>
      <vt:lpstr>Вывод по результатам внедрения   </vt:lpstr>
      <vt:lpstr>Области применения         </vt:lpstr>
      <vt:lpstr>Заключение             </vt:lpstr>
      <vt:lpstr>    Спасибо за внимание!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Дипломная работа на тему: «Разработка информационной системы для автоматизации проектирования сетевых развязок»</dc:title>
  <dc:creator>Пользователь Windows</dc:creator>
  <cp:lastModifiedBy>Пользователь Windows</cp:lastModifiedBy>
  <cp:revision>33</cp:revision>
  <dcterms:created xsi:type="dcterms:W3CDTF">2020-06-10T10:11:48Z</dcterms:created>
  <dcterms:modified xsi:type="dcterms:W3CDTF">2020-06-21T09:41:19Z</dcterms:modified>
</cp:coreProperties>
</file>